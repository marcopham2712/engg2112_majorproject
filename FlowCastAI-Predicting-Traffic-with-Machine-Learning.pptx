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ontserrat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4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779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71950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FlowCastAI: Predicting Traffic with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469844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data-driven framework for forecasting hourly traffic volume across New South Wales by combining vehicle count data with station-level metadata and weather conditions.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32304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360670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5390614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54350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Integration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462326" y="5921216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Historical traffic records + station metadata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219819" y="5360670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507" y="5390614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23836" y="54350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23836" y="5921216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traffic volume with road characteristics impact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9681329" y="5360670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4017" y="5390614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85346" y="54350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Weather Awareness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385346" y="5921216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Environmental conditions affect traffic patterns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64603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2683669"/>
            <a:ext cx="1083231" cy="12999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66461" y="2900243"/>
            <a:ext cx="451068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Sub-problem A: Baseline Prediction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66461" y="338637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traffic trends using temporal features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3983593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66461" y="4200168"/>
            <a:ext cx="405300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Sub-problem B: Weather Impact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66461" y="4686300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how weather modifies baseline traffic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5283518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66461" y="55000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Combined Solution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66461" y="5986224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Vpredicted = Vbaseline + Weather Effect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6758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Pre-Processing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8217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Traffic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39459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values handled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81703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Timestamps structured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23946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stations filtered</a:t>
            </a:r>
          </a:p>
        </p:txBody>
      </p:sp>
      <p:sp>
        <p:nvSpPr>
          <p:cNvPr id="7" name="Text 5"/>
          <p:cNvSpPr/>
          <p:nvPr/>
        </p:nvSpPr>
        <p:spPr>
          <a:xfrm>
            <a:off x="7587139" y="38217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Weather Data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439459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extracted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481703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Geospatial matching 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5239464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data interpolated </a:t>
            </a:r>
            <a:r>
              <a:rPr lang="en-US" sz="170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(there was no missing data)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261BE1-2495-4322-EEF4-25553CEE09C7}"/>
              </a:ext>
            </a:extLst>
          </p:cNvPr>
          <p:cNvSpPr txBox="1"/>
          <p:nvPr/>
        </p:nvSpPr>
        <p:spPr>
          <a:xfrm>
            <a:off x="758309" y="5714881"/>
            <a:ext cx="4368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 Remove unnecessary columns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83ABEA-AB09-8A66-9481-45ADEE4ABD59}"/>
              </a:ext>
            </a:extLst>
          </p:cNvPr>
          <p:cNvSpPr txBox="1"/>
          <p:nvPr/>
        </p:nvSpPr>
        <p:spPr>
          <a:xfrm>
            <a:off x="7587139" y="5682615"/>
            <a:ext cx="4368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 Gather weather data from API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72633D-0A08-132C-C282-AD812028F601}"/>
              </a:ext>
            </a:extLst>
          </p:cNvPr>
          <p:cNvSpPr txBox="1"/>
          <p:nvPr/>
        </p:nvSpPr>
        <p:spPr>
          <a:xfrm>
            <a:off x="7587139" y="6051947"/>
            <a:ext cx="6284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 Organise weather record indexes to match traffic record indexes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AC4DEB-22C5-CB87-8EF9-6DA87E152511}"/>
              </a:ext>
            </a:extLst>
          </p:cNvPr>
          <p:cNvSpPr txBox="1"/>
          <p:nvPr/>
        </p:nvSpPr>
        <p:spPr>
          <a:xfrm>
            <a:off x="758309" y="6098113"/>
            <a:ext cx="4368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 Final cleaned dataset has </a:t>
            </a:r>
            <a:r>
              <a:rPr lang="en-AU" b="0" i="0" dirty="0">
                <a:solidFill>
                  <a:srgbClr val="FF0000"/>
                </a:solidFill>
                <a:effectLst/>
                <a:latin typeface="Google Sans"/>
              </a:rPr>
              <a:t>≈ 3.5 million rows, and 35 columns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CFE5E5-1196-50B4-3B69-CC25DC186765}"/>
              </a:ext>
            </a:extLst>
          </p:cNvPr>
          <p:cNvSpPr txBox="1"/>
          <p:nvPr/>
        </p:nvSpPr>
        <p:spPr>
          <a:xfrm>
            <a:off x="758309" y="6837717"/>
            <a:ext cx="5701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 Some important columns include: date, </a:t>
            </a:r>
            <a:r>
              <a:rPr lang="en-AU" dirty="0" err="1">
                <a:solidFill>
                  <a:srgbClr val="FF0000"/>
                </a:solidFill>
              </a:rPr>
              <a:t>public_holiday</a:t>
            </a:r>
            <a:r>
              <a:rPr lang="en-AU" dirty="0">
                <a:solidFill>
                  <a:srgbClr val="FF0000"/>
                </a:solidFill>
              </a:rPr>
              <a:t>, </a:t>
            </a:r>
            <a:r>
              <a:rPr lang="en-AU" dirty="0" err="1">
                <a:solidFill>
                  <a:srgbClr val="FF0000"/>
                </a:solidFill>
              </a:rPr>
              <a:t>school_holiday</a:t>
            </a:r>
            <a:r>
              <a:rPr lang="en-AU" dirty="0">
                <a:solidFill>
                  <a:srgbClr val="FF0000"/>
                </a:solidFill>
              </a:rPr>
              <a:t>, </a:t>
            </a:r>
            <a:r>
              <a:rPr lang="en-AU" dirty="0" err="1">
                <a:solidFill>
                  <a:srgbClr val="FF0000"/>
                </a:solidFill>
              </a:rPr>
              <a:t>daily_total</a:t>
            </a:r>
            <a:r>
              <a:rPr lang="en-AU" dirty="0">
                <a:solidFill>
                  <a:srgbClr val="FF0000"/>
                </a:solidFill>
              </a:rPr>
              <a:t>, and hourly traffic counts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804C19-1675-4FE0-2BF9-596CF06ADA09}"/>
              </a:ext>
            </a:extLst>
          </p:cNvPr>
          <p:cNvSpPr txBox="1"/>
          <p:nvPr/>
        </p:nvSpPr>
        <p:spPr>
          <a:xfrm>
            <a:off x="758249" y="7470433"/>
            <a:ext cx="5701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 Records from 532 different traffic recording stations around NSW are used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CA2AFE-50F2-BE53-88A6-00F09EB5B7F4}"/>
              </a:ext>
            </a:extLst>
          </p:cNvPr>
          <p:cNvSpPr txBox="1"/>
          <p:nvPr/>
        </p:nvSpPr>
        <p:spPr>
          <a:xfrm>
            <a:off x="7587139" y="6468385"/>
            <a:ext cx="6284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- max, min, and daily rainfall was retrieved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FF887-E837-8252-A70D-AA029A5420A4}"/>
              </a:ext>
            </a:extLst>
          </p:cNvPr>
          <p:cNvSpPr txBox="1"/>
          <p:nvPr/>
        </p:nvSpPr>
        <p:spPr>
          <a:xfrm>
            <a:off x="1161081" y="745552"/>
            <a:ext cx="43688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 err="1">
                <a:solidFill>
                  <a:srgbClr val="FF0000"/>
                </a:solidFill>
              </a:rPr>
              <a:t>Daily_total</a:t>
            </a:r>
            <a:r>
              <a:rPr lang="en-AU" dirty="0">
                <a:solidFill>
                  <a:srgbClr val="FF0000"/>
                </a:solidFill>
              </a:rPr>
              <a:t> feature statistics:</a:t>
            </a: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mean: 11523.46</a:t>
            </a: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Sd: 12780.47</a:t>
            </a: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Min: 0</a:t>
            </a: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rgbClr val="FF0000"/>
                </a:solidFill>
              </a:rPr>
              <a:t>Max: 146723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a number of people&#10;&#10;AI-generated content may be incorrect.">
            <a:extLst>
              <a:ext uri="{FF2B5EF4-FFF2-40B4-BE49-F238E27FC236}">
                <a16:creationId xmlns:a16="http://schemas.microsoft.com/office/drawing/2014/main" id="{687F6AD2-C271-D8D2-F376-F1449183B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0" y="583470"/>
            <a:ext cx="7774802" cy="52882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9E4CB6-5511-1D58-015A-680F7033B35B}"/>
              </a:ext>
            </a:extLst>
          </p:cNvPr>
          <p:cNvSpPr txBox="1"/>
          <p:nvPr/>
        </p:nvSpPr>
        <p:spPr>
          <a:xfrm>
            <a:off x="8812384" y="862270"/>
            <a:ext cx="5450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Since the median value is heavily </a:t>
            </a:r>
            <a:r>
              <a:rPr lang="en-AU" dirty="0" err="1">
                <a:solidFill>
                  <a:srgbClr val="FF0000"/>
                </a:solidFill>
              </a:rPr>
              <a:t>impaced</a:t>
            </a:r>
            <a:r>
              <a:rPr lang="en-AU" dirty="0">
                <a:solidFill>
                  <a:srgbClr val="FF0000"/>
                </a:solidFill>
              </a:rPr>
              <a:t> by the </a:t>
            </a:r>
          </a:p>
          <a:p>
            <a:r>
              <a:rPr lang="en-AU" dirty="0">
                <a:solidFill>
                  <a:srgbClr val="FF0000"/>
                </a:solidFill>
              </a:rPr>
              <a:t>Large amount of zero counts, the mean is a better indicator of congestion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E1815-6C00-1830-8096-49AC34919A6A}"/>
              </a:ext>
            </a:extLst>
          </p:cNvPr>
          <p:cNvSpPr txBox="1"/>
          <p:nvPr/>
        </p:nvSpPr>
        <p:spPr>
          <a:xfrm>
            <a:off x="8812384" y="2118641"/>
            <a:ext cx="5450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We will classify into two classes: “congested” and “not congested”, with the data belonging to the congested class if </a:t>
            </a:r>
            <a:r>
              <a:rPr lang="en-AU" dirty="0" err="1">
                <a:solidFill>
                  <a:srgbClr val="FF0000"/>
                </a:solidFill>
              </a:rPr>
              <a:t>daily_total</a:t>
            </a:r>
            <a:r>
              <a:rPr lang="en-AU" dirty="0">
                <a:solidFill>
                  <a:srgbClr val="FF0000"/>
                </a:solidFill>
              </a:rPr>
              <a:t> is more than the mean (11523.56)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747AE-C125-FD7F-71CC-4FBC2FE04CBF}"/>
              </a:ext>
            </a:extLst>
          </p:cNvPr>
          <p:cNvSpPr txBox="1"/>
          <p:nvPr/>
        </p:nvSpPr>
        <p:spPr>
          <a:xfrm>
            <a:off x="8812384" y="3522507"/>
            <a:ext cx="5654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Categorical features will also  be one-hot encoded before training the model </a:t>
            </a:r>
          </a:p>
        </p:txBody>
      </p:sp>
    </p:spTree>
    <p:extLst>
      <p:ext uri="{BB962C8B-B14F-4D97-AF65-F5344CB8AC3E}">
        <p14:creationId xmlns:p14="http://schemas.microsoft.com/office/powerpoint/2010/main" val="263183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9D10D-FBF0-DD77-C854-9EED8685081E}"/>
              </a:ext>
            </a:extLst>
          </p:cNvPr>
          <p:cNvSpPr txBox="1"/>
          <p:nvPr/>
        </p:nvSpPr>
        <p:spPr>
          <a:xfrm>
            <a:off x="370115" y="424543"/>
            <a:ext cx="6361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Gradient Boosting Model (subproblem A)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9E046-0FCE-25C7-E5BC-9B5710D40C0D}"/>
              </a:ext>
            </a:extLst>
          </p:cNvPr>
          <p:cNvSpPr txBox="1"/>
          <p:nvPr/>
        </p:nvSpPr>
        <p:spPr>
          <a:xfrm>
            <a:off x="513775" y="1295400"/>
            <a:ext cx="387215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We trained it on the following features:</a:t>
            </a:r>
          </a:p>
          <a:p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'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road_functional_hierarchy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endParaRPr lang="en-GB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'</a:t>
            </a:r>
            <a:r>
              <a:rPr lang="en-GB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road_classification_type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endParaRPr lang="en-GB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'suburb’</a:t>
            </a: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A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traffic_direction_seq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A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cardinal_direction_seq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A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classification_seq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'year’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'month’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'day’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A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day_of_week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A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public_holiday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A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school_holiday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A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lane_count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'wgs84_latitude’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'wgs84_longitude'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Tx/>
              <a:buChar char="-"/>
            </a:pP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1CDC6-A997-495F-C7CF-4981D94EAE0C}"/>
              </a:ext>
            </a:extLst>
          </p:cNvPr>
          <p:cNvSpPr txBox="1"/>
          <p:nvPr/>
        </p:nvSpPr>
        <p:spPr>
          <a:xfrm>
            <a:off x="5083629" y="1295400"/>
            <a:ext cx="6043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With the goal of classifying into congested and non congested</a:t>
            </a:r>
          </a:p>
        </p:txBody>
      </p:sp>
      <p:pic>
        <p:nvPicPr>
          <p:cNvPr id="6" name="Picture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649163F2-94BE-A957-1B70-89C62DA90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437" y="2073924"/>
            <a:ext cx="5276098" cy="3511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670FD1-283F-3343-7305-28E5F5C3C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635" y="5994419"/>
            <a:ext cx="2210108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2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04835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Extraction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3085981"/>
            <a:ext cx="3705463" cy="1612702"/>
          </a:xfrm>
          <a:prstGeom prst="roundRect">
            <a:avLst>
              <a:gd name="adj" fmla="val 12091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974884" y="33025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Temporal Features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74884" y="3788688"/>
            <a:ext cx="327231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Hour, day, month, holidays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347" y="3085981"/>
            <a:ext cx="3705463" cy="1612702"/>
          </a:xfrm>
          <a:prstGeom prst="roundRect">
            <a:avLst>
              <a:gd name="adj" fmla="val 12091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4896922" y="3302556"/>
            <a:ext cx="300180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Environmental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96922" y="3788688"/>
            <a:ext cx="32723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Rainfall, min/max temperature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4915257"/>
            <a:ext cx="7627382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974884" y="51318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Encoding Methods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4884" y="5617964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Categorical encoding, standardization</a:t>
            </a:r>
            <a:endParaRPr lang="en-US" sz="1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52057-5942-A2BF-364C-1C0FFC248C88}"/>
              </a:ext>
            </a:extLst>
          </p:cNvPr>
          <p:cNvSpPr txBox="1"/>
          <p:nvPr/>
        </p:nvSpPr>
        <p:spPr>
          <a:xfrm>
            <a:off x="1404257" y="642257"/>
            <a:ext cx="10916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i="1" dirty="0">
                <a:solidFill>
                  <a:srgbClr val="FF0000"/>
                </a:solidFill>
              </a:rPr>
              <a:t>**Not sure what the points of this slide is. What information does it give?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47804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Selection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515672"/>
            <a:ext cx="7627382" cy="4235767"/>
          </a:xfrm>
          <a:prstGeom prst="roundRect">
            <a:avLst>
              <a:gd name="adj" fmla="val 460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765929" y="2523292"/>
            <a:ext cx="7611308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983575" y="2660809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Type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24131" y="2660809"/>
            <a:ext cx="209597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60877" y="2660809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Weaknesses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65929" y="3145036"/>
            <a:ext cx="7611308" cy="1315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983575" y="3282553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524131" y="3282553"/>
            <a:ext cx="209597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Non-linear, resistant to overfitting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060877" y="3282553"/>
            <a:ext cx="209978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Misses time dependencies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5929" y="4460200"/>
            <a:ext cx="7611308" cy="1315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983575" y="4597718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Boost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524131" y="4597718"/>
            <a:ext cx="209597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performance, handles missing data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060877" y="4597718"/>
            <a:ext cx="209978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tuning needed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65929" y="5775365"/>
            <a:ext cx="7611308" cy="9684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983575" y="5912882"/>
            <a:ext cx="209978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MLP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524131" y="5912882"/>
            <a:ext cx="209597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patterns, flexible inputs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060877" y="5912882"/>
            <a:ext cx="209978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large datasets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46942"/>
            <a:ext cx="624459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Weather Impact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44635" y="28692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Rainfall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355419"/>
            <a:ext cx="393704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Influences road conditions and driving behavior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290" y="3170813"/>
            <a:ext cx="324088" cy="4051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4932" y="3042642"/>
            <a:ext cx="290143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Maximum Temperature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4932" y="3528774"/>
            <a:ext cx="39371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Affects comfort and travel patterns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08" y="3561457"/>
            <a:ext cx="324088" cy="4051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4932" y="53266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Minimum Temperature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4932" y="5812750"/>
            <a:ext cx="39371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Impacts morning commute conditions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6664" y="5799475"/>
            <a:ext cx="324088" cy="40517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44635" y="54999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Traffic Adjustment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8309" y="5986105"/>
            <a:ext cx="393704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Weather-aware volume prediction</a:t>
            </a:r>
            <a:endParaRPr lang="en-US" sz="17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646" y="5408831"/>
            <a:ext cx="324088" cy="4051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8877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Business Applications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774" y="2734747"/>
            <a:ext cx="2163723" cy="126599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176" y="3334703"/>
            <a:ext cx="304681" cy="380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35072" y="29513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Smart City Integration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35072" y="3437453"/>
            <a:ext cx="313110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Future-proof urban planning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172551" y="4012525"/>
            <a:ext cx="8645485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2972" y="4054793"/>
            <a:ext cx="4327446" cy="126599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4295" y="4497348"/>
            <a:ext cx="304681" cy="3807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16993" y="4271367"/>
            <a:ext cx="319016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Adaptive Traffic Systems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16993" y="4757499"/>
            <a:ext cx="320385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signal optimization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254472" y="5332571"/>
            <a:ext cx="7563564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051" y="5374838"/>
            <a:ext cx="6491288" cy="126599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4295" y="5817394"/>
            <a:ext cx="304681" cy="38076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498913" y="55914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Navigation Platforms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498913" y="6077545"/>
            <a:ext cx="381916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route recommendations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34433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Revenue Potential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2490192"/>
            <a:ext cx="3651171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$2.5M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1158478" y="34757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Infrastructure Savings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58309" y="3961924"/>
            <a:ext cx="365117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Reduced congestion costs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734401" y="2490192"/>
            <a:ext cx="3651290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15%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134689" y="34757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Efficiency Gain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34401" y="3961924"/>
            <a:ext cx="36512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Improved traffic flow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746296" y="5066824"/>
            <a:ext cx="3651290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$1.2M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3146584" y="60524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Licensing Revenue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46296" y="6538555"/>
            <a:ext cx="36512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access for developers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3459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Next Steps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680573"/>
            <a:ext cx="2185511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665" y="3123128"/>
            <a:ext cx="304681" cy="3807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60395" y="28971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Scale deployment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60395" y="3383280"/>
            <a:ext cx="311586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to additional regions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52048" y="3931325"/>
            <a:ext cx="10711815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758309" y="4054793"/>
            <a:ext cx="4371142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539" y="4497348"/>
            <a:ext cx="304681" cy="3807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6025" y="42713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integration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46025" y="4757499"/>
            <a:ext cx="403740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data feeds and API development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237678" y="5305544"/>
            <a:ext cx="8526185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9"/>
          <p:cNvSpPr/>
          <p:nvPr/>
        </p:nvSpPr>
        <p:spPr>
          <a:xfrm>
            <a:off x="758309" y="5429012"/>
            <a:ext cx="6556891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4414" y="5871567"/>
            <a:ext cx="304681" cy="3807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31775" y="56455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Partner engagement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31775" y="6131719"/>
            <a:ext cx="540877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Transportation agencies and navigation platforms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556</Words>
  <Application>Microsoft Office PowerPoint</Application>
  <PresentationFormat>Custom</PresentationFormat>
  <Paragraphs>123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</vt:lpstr>
      <vt:lpstr>Google Sans</vt:lpstr>
      <vt:lpstr>Barlow Bold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 Chung</cp:lastModifiedBy>
  <cp:revision>2</cp:revision>
  <dcterms:created xsi:type="dcterms:W3CDTF">2025-05-21T21:15:02Z</dcterms:created>
  <dcterms:modified xsi:type="dcterms:W3CDTF">2025-05-25T05:00:46Z</dcterms:modified>
</cp:coreProperties>
</file>